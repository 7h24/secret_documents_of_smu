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78" r:id="rId8"/>
    <p:sldId id="279" r:id="rId9"/>
    <p:sldId id="280" r:id="rId10"/>
    <p:sldId id="281" r:id="rId11"/>
    <p:sldId id="263" r:id="rId12"/>
    <p:sldId id="264" r:id="rId13"/>
    <p:sldId id="265" r:id="rId14"/>
    <p:sldId id="266" r:id="rId15"/>
    <p:sldId id="269" r:id="rId16"/>
    <p:sldId id="270" r:id="rId17"/>
    <p:sldId id="273" r:id="rId18"/>
    <p:sldId id="274" r:id="rId19"/>
    <p:sldId id="276" r:id="rId20"/>
    <p:sldId id="277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9" r:id="rId36"/>
    <p:sldId id="300" r:id="rId37"/>
    <p:sldId id="303" r:id="rId38"/>
    <p:sldId id="304" r:id="rId39"/>
    <p:sldId id="305" r:id="rId40"/>
    <p:sldId id="306" r:id="rId41"/>
    <p:sldId id="307" r:id="rId42"/>
    <p:sldId id="308" r:id="rId43"/>
    <p:sldId id="317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image" Target="../media/image6.jpeg"/><Relationship Id="rId1" Type="http://schemas.openxmlformats.org/officeDocument/2006/relationships/tags" Target="../tags/tag8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microsoft.com/office/2007/relationships/hdphoto" Target="../media/image9.wdp"/><Relationship Id="rId2" Type="http://schemas.openxmlformats.org/officeDocument/2006/relationships/image" Target="../media/image8.png"/><Relationship Id="rId1" Type="http://schemas.openxmlformats.org/officeDocument/2006/relationships/tags" Target="../tags/tag9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image" Target="../media/image10.png"/><Relationship Id="rId1" Type="http://schemas.openxmlformats.org/officeDocument/2006/relationships/tags" Target="../tags/tag9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9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0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1.bin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0.xml"/><Relationship Id="rId3" Type="http://schemas.openxmlformats.org/officeDocument/2006/relationships/image" Target="../media/image18.png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2.bin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4.xml"/><Relationship Id="rId3" Type="http://schemas.openxmlformats.org/officeDocument/2006/relationships/image" Target="../media/image20.png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3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复习习题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对象 4"/>
          <p:cNvGraphicFramePr/>
          <p:nvPr/>
        </p:nvGraphicFramePr>
        <p:xfrm>
          <a:off x="1381125" y="970915"/>
          <a:ext cx="9429750" cy="216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6965950" imgH="844550" progId="Paint.Picture">
                  <p:embed/>
                </p:oleObj>
              </mc:Choice>
              <mc:Fallback>
                <p:oleObj name="" r:id="rId1" imgW="6965950" imgH="8445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81125" y="970915"/>
                        <a:ext cx="9429750" cy="2166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A = +0.0011001B   [A]</a:t>
            </a:r>
            <a:r>
              <a:rPr lang="zh-CN" altLang="en-US"/>
              <a:t>补</a:t>
            </a:r>
            <a:r>
              <a:rPr lang="en-US" altLang="zh-CN"/>
              <a:t>=0.001 1001             [2A]</a:t>
            </a:r>
            <a:r>
              <a:rPr lang="zh-CN" altLang="en-US"/>
              <a:t>补</a:t>
            </a:r>
            <a:r>
              <a:rPr lang="en-US" altLang="zh-CN"/>
              <a:t>=0.011 0010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 = —0.0101011B  [B]</a:t>
            </a:r>
            <a:r>
              <a:rPr lang="zh-CN" altLang="en-US"/>
              <a:t>补</a:t>
            </a:r>
            <a:r>
              <a:rPr lang="en-US" altLang="zh-CN"/>
              <a:t>=1.101 0101             [-B]</a:t>
            </a:r>
            <a:r>
              <a:rPr lang="zh-CN" altLang="en-US"/>
              <a:t>补</a:t>
            </a:r>
            <a:r>
              <a:rPr lang="en-US" altLang="zh-CN"/>
              <a:t>=0.010 1011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[2A-B]</a:t>
            </a:r>
            <a:r>
              <a:rPr lang="zh-CN" altLang="en-US"/>
              <a:t>补</a:t>
            </a:r>
            <a:r>
              <a:rPr lang="en-US" altLang="zh-CN"/>
              <a:t>=[2A]</a:t>
            </a:r>
            <a:r>
              <a:rPr lang="zh-CN" altLang="en-US"/>
              <a:t>补</a:t>
            </a:r>
            <a:r>
              <a:rPr lang="en-US" altLang="zh-CN"/>
              <a:t>+[-B]</a:t>
            </a:r>
            <a:r>
              <a:rPr lang="zh-CN" altLang="en-US"/>
              <a:t>补</a:t>
            </a:r>
            <a:r>
              <a:rPr lang="en-US" altLang="zh-CN"/>
              <a:t>=0.101 1101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2A—B= +0.101 1101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1254760" y="766445"/>
          <a:ext cx="9805670" cy="1801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8724900" imgH="882650" progId="Paint.Picture">
                  <p:embed/>
                </p:oleObj>
              </mc:Choice>
              <mc:Fallback>
                <p:oleObj name="" r:id="rId1" imgW="8724900" imgH="88265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4760" y="766445"/>
                        <a:ext cx="9805670" cy="1801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A=</a:t>
            </a:r>
            <a:r>
              <a:rPr lang="zh-CN" altLang="en-US"/>
              <a:t>－</a:t>
            </a:r>
            <a:r>
              <a:rPr lang="en-US" altLang="zh-CN"/>
              <a:t>0.1011  [A]</a:t>
            </a:r>
            <a:r>
              <a:rPr lang="zh-CN" altLang="en-US"/>
              <a:t>补</a:t>
            </a:r>
            <a:r>
              <a:rPr lang="en-US" altLang="zh-CN"/>
              <a:t>=11.01 0100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B=+0.1101	  [B]</a:t>
            </a:r>
            <a:r>
              <a:rPr lang="zh-CN" altLang="en-US"/>
              <a:t>补</a:t>
            </a:r>
            <a:r>
              <a:rPr lang="en-US" altLang="zh-CN"/>
              <a:t>=00.11 0100  [-B]</a:t>
            </a:r>
            <a:r>
              <a:rPr lang="zh-CN" altLang="en-US"/>
              <a:t>补</a:t>
            </a:r>
            <a:r>
              <a:rPr lang="en-US" altLang="zh-CN"/>
              <a:t>=11.00 1100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[A+B]</a:t>
            </a:r>
            <a:r>
              <a:rPr lang="zh-CN" altLang="en-US"/>
              <a:t>补</a:t>
            </a:r>
            <a:r>
              <a:rPr lang="en-US" altLang="zh-CN"/>
              <a:t>=11.01 0100+00.11 0100=00.00 1000  </a:t>
            </a:r>
            <a:r>
              <a:rPr lang="zh-CN" altLang="en-US"/>
              <a:t>无溢出，</a:t>
            </a:r>
            <a:r>
              <a:rPr lang="en-US" altLang="zh-CN"/>
              <a:t>A+B=+0.0010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[A-B]</a:t>
            </a:r>
            <a:r>
              <a:rPr lang="zh-CN" altLang="en-US"/>
              <a:t>补</a:t>
            </a:r>
            <a:r>
              <a:rPr lang="en-US" altLang="zh-CN"/>
              <a:t>=[A]</a:t>
            </a:r>
            <a:r>
              <a:rPr lang="zh-CN" altLang="en-US"/>
              <a:t>补</a:t>
            </a:r>
            <a:r>
              <a:rPr lang="en-US" altLang="zh-CN"/>
              <a:t>+[-B]</a:t>
            </a:r>
            <a:r>
              <a:rPr lang="zh-CN" altLang="en-US"/>
              <a:t>补</a:t>
            </a:r>
            <a:r>
              <a:rPr lang="en-US" altLang="zh-CN"/>
              <a:t>=10.10 0000         </a:t>
            </a:r>
            <a:r>
              <a:rPr lang="zh-CN" altLang="en-US"/>
              <a:t>负溢出，</a:t>
            </a:r>
            <a:r>
              <a:rPr lang="en-US" altLang="zh-CN"/>
              <a:t>A-B=+0.1000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对象 2"/>
          <p:cNvGraphicFramePr/>
          <p:nvPr/>
        </p:nvGraphicFramePr>
        <p:xfrm>
          <a:off x="1057910" y="919480"/>
          <a:ext cx="994029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8477250" imgH="596900" progId="Paint.Picture">
                  <p:embed/>
                </p:oleObj>
              </mc:Choice>
              <mc:Fallback>
                <p:oleObj name="" r:id="rId1" imgW="8477250" imgH="5969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57910" y="919480"/>
                        <a:ext cx="9940290" cy="170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X= -1000112/10000002= -100011</a:t>
            </a:r>
            <a:r>
              <a:rPr lang="en-US" altLang="en-US"/>
              <a:t>×</a:t>
            </a:r>
            <a:r>
              <a:rPr lang="en-US" altLang="zh-CN"/>
              <a:t>0.000001= -0.100011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X</a:t>
            </a:r>
            <a:r>
              <a:rPr lang="zh-CN" altLang="en-US"/>
              <a:t>补</a:t>
            </a:r>
            <a:r>
              <a:rPr lang="en-US" altLang="zh-CN"/>
              <a:t>= 11.011101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Y= 100112/1000002= 10011</a:t>
            </a:r>
            <a:r>
              <a:rPr lang="en-US" altLang="en-US"/>
              <a:t>×</a:t>
            </a:r>
            <a:r>
              <a:rPr lang="en-US" altLang="zh-CN"/>
              <a:t>0.00001= 0.10011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Y</a:t>
            </a:r>
            <a:r>
              <a:rPr lang="zh-CN" altLang="en-US"/>
              <a:t>补</a:t>
            </a:r>
            <a:r>
              <a:rPr lang="en-US" altLang="zh-CN"/>
              <a:t>= 00.100110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[X-Y]</a:t>
            </a:r>
            <a:r>
              <a:rPr lang="zh-CN" altLang="en-US"/>
              <a:t>补</a:t>
            </a:r>
            <a:r>
              <a:rPr lang="en-US" altLang="zh-CN"/>
              <a:t>= X</a:t>
            </a:r>
            <a:r>
              <a:rPr lang="zh-CN" altLang="en-US"/>
              <a:t>补</a:t>
            </a:r>
            <a:r>
              <a:rPr lang="en-US" altLang="zh-CN"/>
              <a:t>+ </a:t>
            </a:r>
            <a:r>
              <a:rPr lang="zh-CN" altLang="en-US"/>
              <a:t>（</a:t>
            </a:r>
            <a:r>
              <a:rPr lang="en-US" altLang="zh-CN"/>
              <a:t>-Y</a:t>
            </a:r>
            <a:r>
              <a:rPr lang="zh-CN" altLang="en-US"/>
              <a:t>）补</a:t>
            </a:r>
            <a:r>
              <a:rPr lang="en-US" altLang="zh-CN"/>
              <a:t>=10.110111   </a:t>
            </a:r>
            <a:r>
              <a:rPr lang="zh-CN" altLang="en-US"/>
              <a:t>符号位</a:t>
            </a:r>
            <a:r>
              <a:rPr lang="en-US" altLang="zh-CN"/>
              <a:t>10</a:t>
            </a:r>
            <a:r>
              <a:rPr lang="zh-CN" altLang="en-US"/>
              <a:t>，结果负溢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sz="3200"/>
              <a:t>设机器数字长为</a:t>
            </a:r>
            <a:r>
              <a:rPr lang="en-US" altLang="zh-CN" sz="3200"/>
              <a:t> 8 </a:t>
            </a:r>
            <a:r>
              <a:rPr lang="zh-CN" altLang="en-US" sz="3200"/>
              <a:t>位（含</a:t>
            </a:r>
            <a:r>
              <a:rPr lang="en-US" altLang="zh-CN" sz="3200"/>
              <a:t> 2 </a:t>
            </a:r>
            <a:r>
              <a:rPr lang="zh-CN" altLang="en-US" sz="3200"/>
              <a:t>位符号位），已知</a:t>
            </a:r>
            <a:r>
              <a:rPr lang="en-US" altLang="zh-CN" sz="3200"/>
              <a:t> X=-45/64</a:t>
            </a:r>
            <a:r>
              <a:rPr lang="zh-CN" altLang="en-US" sz="3200"/>
              <a:t>，</a:t>
            </a:r>
            <a:r>
              <a:rPr lang="en-US" altLang="zh-CN" sz="3200"/>
              <a:t>Y=-23/32</a:t>
            </a:r>
            <a:r>
              <a:rPr lang="zh-CN" altLang="en-US" sz="3200"/>
              <a:t>，计算</a:t>
            </a:r>
            <a:r>
              <a:rPr lang="en-US" altLang="zh-CN" sz="3200"/>
              <a:t> [X+Y]</a:t>
            </a:r>
            <a:r>
              <a:rPr lang="zh-CN" altLang="en-US" sz="3200"/>
              <a:t>补，并说明结果溢出情况</a:t>
            </a:r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X= -1011012/10000002= -101101</a:t>
            </a:r>
            <a:r>
              <a:rPr lang="en-US" altLang="en-US"/>
              <a:t>×</a:t>
            </a:r>
            <a:r>
              <a:rPr lang="en-US" altLang="zh-CN"/>
              <a:t>0.000001= -0.101101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X</a:t>
            </a:r>
            <a:r>
              <a:rPr lang="zh-CN" altLang="en-US"/>
              <a:t>补</a:t>
            </a:r>
            <a:r>
              <a:rPr lang="en-US" altLang="zh-CN"/>
              <a:t>= 11.010011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Y= -101112/1000002= -10111</a:t>
            </a:r>
            <a:r>
              <a:rPr lang="en-US" altLang="en-US"/>
              <a:t>×</a:t>
            </a:r>
            <a:r>
              <a:rPr lang="en-US" altLang="zh-CN"/>
              <a:t>0.00001= -0.10111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Y</a:t>
            </a:r>
            <a:r>
              <a:rPr lang="zh-CN" altLang="en-US"/>
              <a:t>补</a:t>
            </a:r>
            <a:r>
              <a:rPr lang="en-US" altLang="zh-CN"/>
              <a:t>= 11.010010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[X+Y]</a:t>
            </a:r>
            <a:r>
              <a:rPr lang="zh-CN" altLang="en-US"/>
              <a:t>补</a:t>
            </a:r>
            <a:r>
              <a:rPr lang="en-US" altLang="zh-CN"/>
              <a:t>= X</a:t>
            </a:r>
            <a:r>
              <a:rPr lang="zh-CN" altLang="en-US"/>
              <a:t>补</a:t>
            </a:r>
            <a:r>
              <a:rPr lang="en-US" altLang="zh-CN"/>
              <a:t>+ Y</a:t>
            </a:r>
            <a:r>
              <a:rPr lang="zh-CN" altLang="en-US"/>
              <a:t>补</a:t>
            </a:r>
            <a:r>
              <a:rPr lang="en-US" altLang="zh-CN"/>
              <a:t>=10.100101   </a:t>
            </a:r>
            <a:r>
              <a:rPr lang="zh-CN" altLang="en-US"/>
              <a:t>符号位</a:t>
            </a:r>
            <a:r>
              <a:rPr lang="en-US" altLang="zh-CN"/>
              <a:t>10</a:t>
            </a:r>
            <a:r>
              <a:rPr lang="zh-CN" altLang="en-US"/>
              <a:t>，结果负溢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sz="3600"/>
              <a:t>用原码一位乘法计算</a:t>
            </a:r>
            <a:r>
              <a:rPr lang="en-US" altLang="zh-CN" sz="3600"/>
              <a:t>X*Y=? </a:t>
            </a:r>
            <a:r>
              <a:rPr lang="zh-CN" altLang="en-US" sz="3600"/>
              <a:t>写出规范的运算过程</a:t>
            </a:r>
            <a:r>
              <a:rPr lang="en-US" altLang="zh-CN" sz="3600"/>
              <a:t> </a:t>
            </a:r>
            <a:r>
              <a:rPr lang="zh-CN" altLang="en-US" sz="3600"/>
              <a:t>。</a:t>
            </a:r>
            <a:r>
              <a:rPr lang="en-US" altLang="zh-CN" sz="3600"/>
              <a:t>X=+1001</a:t>
            </a:r>
            <a:r>
              <a:rPr lang="zh-CN" altLang="en-US" sz="3600"/>
              <a:t>，</a:t>
            </a:r>
            <a:r>
              <a:rPr lang="en-US" altLang="zh-CN" sz="3600"/>
              <a:t>Y=+1101</a:t>
            </a:r>
            <a:endParaRPr lang="en-US" altLang="zh-CN" sz="3600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5" descr="3f89982541289e162fb3fed88361634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915" y="548005"/>
            <a:ext cx="6217285" cy="5791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3200"/>
              <a:t>X=00001001</a:t>
            </a:r>
            <a:r>
              <a:rPr lang="zh-CN" altLang="en-US" sz="3200"/>
              <a:t>，</a:t>
            </a:r>
            <a:r>
              <a:rPr lang="en-US" altLang="zh-CN" sz="3200"/>
              <a:t>Y=0011</a:t>
            </a:r>
            <a:r>
              <a:rPr lang="zh-CN" altLang="en-US" sz="3200"/>
              <a:t>，用原码一位除计算</a:t>
            </a:r>
            <a:r>
              <a:rPr lang="en-US" altLang="zh-CN" sz="3200"/>
              <a:t>X/Y=?  </a:t>
            </a:r>
            <a:r>
              <a:rPr lang="zh-CN" altLang="en-US" sz="3200"/>
              <a:t>写出运算过程，分别给出求得的商和余数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4" descr="cd44fe2651c3c1d80b1d85e977d87fc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5475" y="956945"/>
            <a:ext cx="5634355" cy="51295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sz="3200"/>
              <a:t>已知无符号数</a:t>
            </a:r>
            <a:r>
              <a:rPr lang="en-US" altLang="zh-CN" sz="3200"/>
              <a:t> X=1101</a:t>
            </a:r>
            <a:r>
              <a:rPr lang="zh-CN" altLang="en-US" sz="3200"/>
              <a:t>，</a:t>
            </a:r>
            <a:r>
              <a:rPr lang="en-US" altLang="zh-CN" sz="3200"/>
              <a:t>Y=1001</a:t>
            </a:r>
            <a:r>
              <a:rPr lang="zh-CN" altLang="en-US" sz="3200"/>
              <a:t>，写出计算机系统规范的</a:t>
            </a:r>
            <a:r>
              <a:rPr lang="en-US" altLang="zh-CN" sz="3200"/>
              <a:t> X</a:t>
            </a:r>
            <a:r>
              <a:rPr lang="en-US" altLang="en-US" sz="3200"/>
              <a:t>×</a:t>
            </a:r>
            <a:r>
              <a:rPr lang="en-US" altLang="zh-CN" sz="3200"/>
              <a:t>Y </a:t>
            </a:r>
            <a:r>
              <a:rPr lang="zh-CN" altLang="en-US" sz="3200"/>
              <a:t>的运算过程。</a:t>
            </a:r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2" descr="d677eff5ded7d530bf6ebbdd72b627d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>
            <a:lum bright="18000" contrast="60000"/>
          </a:blip>
          <a:srcRect b="4065"/>
          <a:stretch>
            <a:fillRect/>
          </a:stretch>
        </p:blipFill>
        <p:spPr>
          <a:xfrm>
            <a:off x="3741420" y="728980"/>
            <a:ext cx="4082415" cy="54533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1522730" y="1008380"/>
          <a:ext cx="9425940" cy="1991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8356600" imgH="876300" progId="Paint.Picture">
                  <p:embed/>
                </p:oleObj>
              </mc:Choice>
              <mc:Fallback>
                <p:oleObj name="" r:id="rId1" imgW="8356600" imgH="8763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2730" y="1008380"/>
                        <a:ext cx="9425940" cy="1991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6293754" name="图片 2"/>
          <p:cNvPicPr>
            <a:picLocks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3295" y="371475"/>
            <a:ext cx="3877310" cy="574992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88415" y="1208405"/>
            <a:ext cx="8496300" cy="25336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(1) 16-P-Q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(2) </a:t>
            </a:r>
            <a:r>
              <a:rPr lang="zh-CN" altLang="en-US"/>
              <a:t>（</a:t>
            </a:r>
            <a:r>
              <a:rPr lang="en-US" altLang="zh-CN"/>
              <a:t>24−M</a:t>
            </a:r>
            <a:r>
              <a:rPr lang="zh-CN" altLang="en-US"/>
              <a:t>）</a:t>
            </a:r>
            <a:r>
              <a:rPr lang="en-US" altLang="zh-CN"/>
              <a:t>26−</a:t>
            </a:r>
            <a:r>
              <a:rPr lang="zh-CN" altLang="en-US"/>
              <a:t>（</a:t>
            </a:r>
            <a:r>
              <a:rPr lang="en-US" altLang="zh-CN"/>
              <a:t>N/26</a:t>
            </a:r>
            <a:r>
              <a:rPr lang="zh-CN" altLang="en-US"/>
              <a:t>）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1109980" y="648970"/>
          <a:ext cx="9565005" cy="229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8470900" imgH="774700" progId="Paint.Picture">
                  <p:embed/>
                </p:oleObj>
              </mc:Choice>
              <mc:Fallback>
                <p:oleObj name="" r:id="rId1" imgW="8470900" imgH="7747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09980" y="648970"/>
                        <a:ext cx="9565005" cy="2294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1720215" y="1343660"/>
          <a:ext cx="8761730" cy="4192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118100" imgH="2082800" progId="Paint.Picture">
                  <p:embed/>
                </p:oleObj>
              </mc:Choice>
              <mc:Fallback>
                <p:oleObj name="" r:id="rId1" imgW="5118100" imgH="20828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20215" y="1343660"/>
                        <a:ext cx="8761730" cy="4192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1755775" y="1572260"/>
          <a:ext cx="9348470" cy="245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410200" imgH="1193800" progId="Paint.Picture">
                  <p:embed/>
                </p:oleObj>
              </mc:Choice>
              <mc:Fallback>
                <p:oleObj name="" r:id="rId1" imgW="5410200" imgH="11938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5775" y="1572260"/>
                        <a:ext cx="9348470" cy="245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2065020" y="1496060"/>
          <a:ext cx="8401685" cy="351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4318000" imgH="1619250" progId="Paint.Picture">
                  <p:embed/>
                </p:oleObj>
              </mc:Choice>
              <mc:Fallback>
                <p:oleObj name="" r:id="rId1" imgW="4318000" imgH="161925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65020" y="1496060"/>
                        <a:ext cx="8401685" cy="351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sz="3200"/>
              <a:t>请写出模型机中以下指令的读取与执行流程：</a:t>
            </a:r>
            <a:endParaRPr lang="zh-CN" altLang="en-US" sz="3200"/>
          </a:p>
          <a:p>
            <a:pPr marL="0" indent="0">
              <a:buNone/>
            </a:pPr>
            <a:r>
              <a:rPr lang="en-US" altLang="zh-CN" sz="3200"/>
              <a:t>ADD R0, X(R1)</a:t>
            </a:r>
            <a:endParaRPr lang="en-US" altLang="zh-CN" sz="3200"/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49580" y="152400"/>
            <a:ext cx="10968990" cy="6119495"/>
          </a:xfrm>
        </p:spPr>
        <p:txBody>
          <a:bodyPr>
            <a:noAutofit/>
          </a:bodyPr>
          <a:p>
            <a:r>
              <a:rPr lang="en-US" altLang="zh-CN" sz="2000"/>
              <a:t>FT0:  PC-&gt;MAR</a:t>
            </a:r>
            <a:endParaRPr lang="en-US" altLang="zh-CN" sz="2000"/>
          </a:p>
          <a:p>
            <a:r>
              <a:rPr lang="en-US" altLang="zh-CN" sz="2000"/>
              <a:t>FT1:  M-&gt;MDR-&gt;IR</a:t>
            </a:r>
            <a:endParaRPr lang="en-US" altLang="zh-CN" sz="2000"/>
          </a:p>
          <a:p>
            <a:r>
              <a:rPr lang="en-US" altLang="zh-CN" sz="2000"/>
              <a:t> PC+1-&gt;PC</a:t>
            </a:r>
            <a:endParaRPr lang="en-US" altLang="zh-CN" sz="2000"/>
          </a:p>
          <a:p>
            <a:r>
              <a:rPr lang="en-US" altLang="zh-CN" sz="2000"/>
              <a:t>ST0:  PC-&gt;MAR</a:t>
            </a:r>
            <a:endParaRPr lang="en-US" altLang="zh-CN" sz="2000"/>
          </a:p>
          <a:p>
            <a:r>
              <a:rPr lang="en-US" altLang="zh-CN" sz="2000"/>
              <a:t>ST1:  M-&gt;MDR-&gt;D</a:t>
            </a:r>
            <a:endParaRPr lang="en-US" altLang="zh-CN" sz="2000"/>
          </a:p>
          <a:p>
            <a:r>
              <a:rPr lang="en-US" altLang="zh-CN" sz="2000"/>
              <a:t>ST2:  PC+1-&gt;PC</a:t>
            </a:r>
            <a:endParaRPr lang="en-US" altLang="zh-CN" sz="2000"/>
          </a:p>
          <a:p>
            <a:r>
              <a:rPr lang="en-US" altLang="zh-CN" sz="2000"/>
              <a:t>ST3:  D+R1-&gt;Z</a:t>
            </a:r>
            <a:endParaRPr lang="en-US" altLang="zh-CN" sz="2000"/>
          </a:p>
          <a:p>
            <a:r>
              <a:rPr lang="en-US" altLang="zh-CN" sz="2000"/>
              <a:t>ST4:  Z-&gt;MAR</a:t>
            </a:r>
            <a:endParaRPr lang="en-US" altLang="zh-CN" sz="2000"/>
          </a:p>
          <a:p>
            <a:r>
              <a:rPr lang="en-US" altLang="zh-CN" sz="2000"/>
              <a:t>ST5:  M-&gt;MDR-&gt;C</a:t>
            </a:r>
            <a:endParaRPr lang="en-US" altLang="zh-CN" sz="2000"/>
          </a:p>
          <a:p>
            <a:r>
              <a:rPr lang="en-US" altLang="zh-CN" sz="2000"/>
              <a:t>DT0:   R0-&gt;D</a:t>
            </a:r>
            <a:endParaRPr lang="en-US" altLang="zh-CN" sz="2000"/>
          </a:p>
          <a:p>
            <a:r>
              <a:rPr lang="en-US" altLang="zh-CN" sz="2000"/>
              <a:t>ET0:  C+D-&gt;Z</a:t>
            </a:r>
            <a:endParaRPr lang="en-US" altLang="zh-CN" sz="2000"/>
          </a:p>
          <a:p>
            <a:r>
              <a:rPr lang="en-US" altLang="zh-CN" sz="2000"/>
              <a:t>ET1:  Z-&gt;R0</a:t>
            </a:r>
            <a:endParaRPr lang="en-US" altLang="zh-CN" sz="2000"/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sz="3200"/>
              <a:t>请写出模型机中以下指令的读取与执行流程：</a:t>
            </a:r>
            <a:endParaRPr lang="zh-CN" altLang="en-US" sz="3200"/>
          </a:p>
          <a:p>
            <a:pPr marL="0" indent="0">
              <a:buNone/>
            </a:pPr>
            <a:r>
              <a:rPr lang="en-US" altLang="zh-CN" sz="3200"/>
              <a:t>DEC (R1) </a:t>
            </a:r>
            <a:endParaRPr lang="en-US" altLang="zh-CN" sz="3200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447040"/>
            <a:ext cx="10968990" cy="5802630"/>
          </a:xfrm>
        </p:spPr>
        <p:txBody>
          <a:bodyPr>
            <a:normAutofit lnSpcReduction="10000"/>
          </a:bodyPr>
          <a:p>
            <a:r>
              <a:rPr lang="en-US" altLang="zh-CN" sz="2400"/>
              <a:t>FT0:  PC-&gt;MAR</a:t>
            </a:r>
            <a:endParaRPr lang="en-US" altLang="zh-CN" sz="2400"/>
          </a:p>
          <a:p>
            <a:r>
              <a:rPr lang="en-US" altLang="zh-CN" sz="2400"/>
              <a:t>FT1:  M-&gt;MDR-&gt;IR</a:t>
            </a:r>
            <a:endParaRPr lang="en-US" altLang="zh-CN" sz="2400"/>
          </a:p>
          <a:p>
            <a:r>
              <a:rPr lang="en-US" altLang="zh-CN" sz="2400"/>
              <a:t>      PC+1-&gt;PC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DT0:  R1-&gt;MAR</a:t>
            </a:r>
            <a:endParaRPr lang="en-US" altLang="zh-CN" sz="2400"/>
          </a:p>
          <a:p>
            <a:r>
              <a:rPr lang="en-US" altLang="zh-CN" sz="2400"/>
              <a:t>DT1:  M-&gt;MDR-&gt;D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ET0:  DEC D-&gt;Z</a:t>
            </a:r>
            <a:endParaRPr lang="en-US" altLang="zh-CN" sz="2400"/>
          </a:p>
          <a:p>
            <a:r>
              <a:rPr lang="en-US" altLang="zh-CN" sz="2400"/>
              <a:t>ET1:  Z-&gt;MDR</a:t>
            </a:r>
            <a:endParaRPr lang="en-US" altLang="zh-CN" sz="2400"/>
          </a:p>
          <a:p>
            <a:r>
              <a:rPr lang="en-US" altLang="zh-CN" sz="2400"/>
              <a:t>ET2:  MDR-&gt;M</a:t>
            </a:r>
            <a:endParaRPr lang="en-US" altLang="zh-CN" sz="2400"/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对象 3"/>
          <p:cNvGraphicFramePr/>
          <p:nvPr/>
        </p:nvGraphicFramePr>
        <p:xfrm>
          <a:off x="2545715" y="772160"/>
          <a:ext cx="7349490" cy="5551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" imgW="5486400" imgH="4470400" progId="Paint.Picture">
                  <p:embed/>
                </p:oleObj>
              </mc:Choice>
              <mc:Fallback>
                <p:oleObj name="" r:id="rId1" imgW="5486400" imgH="44704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5715" y="772160"/>
                        <a:ext cx="7349490" cy="5551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8955" y="436245"/>
            <a:ext cx="10968990" cy="6421755"/>
          </a:xfrm>
        </p:spPr>
        <p:txBody>
          <a:bodyPr>
            <a:noAutofit/>
          </a:bodyPr>
          <a:p>
            <a:r>
              <a:rPr lang="en-US" altLang="zh-CN" sz="1900"/>
              <a:t>(1) MAR</a:t>
            </a:r>
            <a:r>
              <a:rPr lang="zh-CN" altLang="en-US" sz="1900"/>
              <a:t>存储器地址寄存器</a:t>
            </a:r>
            <a:r>
              <a:rPr lang="en-US" altLang="zh-CN" sz="1900"/>
              <a:t>	</a:t>
            </a:r>
            <a:endParaRPr lang="en-US" altLang="zh-CN" sz="1900"/>
          </a:p>
          <a:p>
            <a:r>
              <a:rPr lang="en-US" altLang="zh-CN" sz="1900"/>
              <a:t>	MDR</a:t>
            </a:r>
            <a:r>
              <a:rPr lang="zh-CN" altLang="en-US" sz="1900"/>
              <a:t>存储器数据寄存器</a:t>
            </a:r>
            <a:endParaRPr lang="zh-CN" altLang="en-US" sz="1900"/>
          </a:p>
          <a:p>
            <a:r>
              <a:rPr lang="en-US" altLang="zh-CN" sz="1900"/>
              <a:t>PC</a:t>
            </a:r>
            <a:r>
              <a:rPr lang="zh-CN" altLang="en-US" sz="1900"/>
              <a:t>程序计数器</a:t>
            </a:r>
            <a:r>
              <a:rPr lang="en-US" altLang="zh-CN" sz="1900"/>
              <a:t>		</a:t>
            </a:r>
            <a:endParaRPr lang="en-US" altLang="zh-CN" sz="1900"/>
          </a:p>
          <a:p>
            <a:r>
              <a:rPr lang="en-US" altLang="zh-CN" sz="1900"/>
              <a:t>	IR</a:t>
            </a:r>
            <a:r>
              <a:rPr lang="zh-CN" altLang="en-US" sz="1900"/>
              <a:t>指令寄存器</a:t>
            </a:r>
            <a:endParaRPr lang="en-US" altLang="zh-CN" sz="1900"/>
          </a:p>
          <a:p>
            <a:r>
              <a:rPr lang="en-US" altLang="zh-CN" sz="1900"/>
              <a:t>(2) FT</a:t>
            </a:r>
            <a:r>
              <a:rPr lang="zh-CN" altLang="en-US" sz="1900"/>
              <a:t>：</a:t>
            </a:r>
            <a:r>
              <a:rPr lang="en-US" altLang="zh-CN" sz="1900"/>
              <a:t>PC==&gt;MAR</a:t>
            </a:r>
            <a:endParaRPr lang="en-US" altLang="zh-CN" sz="1900"/>
          </a:p>
          <a:p>
            <a:r>
              <a:rPr lang="en-US" altLang="zh-CN" sz="1900"/>
              <a:t>        M==&gt;MDR==&gt;IR</a:t>
            </a:r>
            <a:endParaRPr lang="en-US" altLang="zh-CN" sz="1900"/>
          </a:p>
          <a:p>
            <a:r>
              <a:rPr lang="en-US" altLang="zh-CN" sz="1900"/>
              <a:t>PC+1==&gt;PC</a:t>
            </a:r>
            <a:endParaRPr lang="en-US" altLang="zh-CN" sz="1900"/>
          </a:p>
          <a:p>
            <a:r>
              <a:rPr lang="en-US" altLang="zh-CN" sz="1900"/>
              <a:t>DT</a:t>
            </a:r>
            <a:r>
              <a:rPr lang="zh-CN" altLang="en-US" sz="1900"/>
              <a:t>：</a:t>
            </a:r>
            <a:r>
              <a:rPr lang="en-US" altLang="zh-CN" sz="1900"/>
              <a:t>R1==&gt;MAR</a:t>
            </a:r>
            <a:endParaRPr lang="en-US" altLang="zh-CN" sz="1900"/>
          </a:p>
          <a:p>
            <a:r>
              <a:rPr lang="en-US" altLang="zh-CN" sz="1900"/>
              <a:t>       M==&gt;MDR==&gt;A</a:t>
            </a:r>
            <a:endParaRPr lang="en-US" altLang="zh-CN" sz="1900"/>
          </a:p>
          <a:p>
            <a:r>
              <a:rPr lang="en-US" altLang="zh-CN" sz="1900"/>
              <a:t>ET</a:t>
            </a:r>
            <a:r>
              <a:rPr lang="zh-CN" altLang="en-US" sz="1900"/>
              <a:t>：</a:t>
            </a:r>
            <a:r>
              <a:rPr lang="en-US" altLang="zh-CN" sz="1900"/>
              <a:t>A + (R0) ==&gt; AC </a:t>
            </a:r>
            <a:endParaRPr lang="en-US" altLang="zh-CN" sz="1900"/>
          </a:p>
          <a:p>
            <a:r>
              <a:rPr lang="en-US" altLang="zh-CN" sz="1900"/>
              <a:t>AC==&gt; MDR</a:t>
            </a:r>
            <a:endParaRPr lang="en-US" altLang="zh-CN" sz="1900"/>
          </a:p>
          <a:p>
            <a:r>
              <a:rPr lang="en-US" altLang="zh-CN" sz="1900"/>
              <a:t>        MDR==&gt;M</a:t>
            </a:r>
            <a:endParaRPr lang="en-US" altLang="zh-CN" sz="1900"/>
          </a:p>
        </p:txBody>
      </p: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2052955" y="1072515"/>
          <a:ext cx="8146415" cy="474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5664200" imgH="3657600" progId="Paint.Picture">
                  <p:embed/>
                </p:oleObj>
              </mc:Choice>
              <mc:Fallback>
                <p:oleObj name="" r:id="rId1" imgW="5664200" imgH="36576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52955" y="1072515"/>
                        <a:ext cx="8146415" cy="474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  </a:t>
            </a:r>
            <a:r>
              <a:rPr lang="zh-CN" altLang="en-US"/>
              <a:t>直接寻址</a:t>
            </a:r>
            <a:r>
              <a:rPr lang="en-US" altLang="zh-CN"/>
              <a:t>;  31000  H ;  9ABC      H </a:t>
            </a:r>
            <a:endParaRPr lang="en-US" altLang="zh-CN"/>
          </a:p>
          <a:p>
            <a:r>
              <a:rPr lang="en-US" altLang="zh-CN"/>
              <a:t>     (2)  </a:t>
            </a:r>
            <a:r>
              <a:rPr lang="zh-CN" altLang="en-US"/>
              <a:t>寄存器间接寻址</a:t>
            </a:r>
            <a:r>
              <a:rPr lang="en-US" altLang="zh-CN"/>
              <a:t>   ;  21000  H;  1234 H</a:t>
            </a:r>
            <a:endParaRPr lang="en-US" altLang="zh-CN"/>
          </a:p>
          <a:p>
            <a:r>
              <a:rPr lang="en-US" altLang="zh-CN"/>
              <a:t>     (3) </a:t>
            </a:r>
            <a:r>
              <a:rPr lang="zh-CN" altLang="en-US"/>
              <a:t>基址变址寻址</a:t>
            </a:r>
            <a:r>
              <a:rPr lang="en-US" altLang="zh-CN"/>
              <a:t> ;  41002 H</a:t>
            </a:r>
            <a:r>
              <a:rPr lang="zh-CN" altLang="en-US"/>
              <a:t>；</a:t>
            </a:r>
            <a:r>
              <a:rPr lang="en-US" altLang="zh-CN"/>
              <a:t>  789A H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2523490" y="1733550"/>
          <a:ext cx="7051675" cy="2646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5613400" imgH="1447800" progId="Paint.Picture">
                  <p:embed/>
                </p:oleObj>
              </mc:Choice>
              <mc:Fallback>
                <p:oleObj name="" r:id="rId1" imgW="5613400" imgH="14478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23490" y="1733550"/>
                        <a:ext cx="7051675" cy="2646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1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340" y="1416685"/>
            <a:ext cx="2641600" cy="3873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对象 6"/>
          <p:cNvGraphicFramePr/>
          <p:nvPr/>
        </p:nvGraphicFramePr>
        <p:xfrm>
          <a:off x="1897380" y="1767205"/>
          <a:ext cx="8149590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7277100" imgH="1917700" progId="Paint.Picture">
                  <p:embed/>
                </p:oleObj>
              </mc:Choice>
              <mc:Fallback>
                <p:oleObj name="" r:id="rId1" imgW="7277100" imgH="191770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97380" y="1767205"/>
                        <a:ext cx="8149590" cy="2879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1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090" y="2161540"/>
            <a:ext cx="2616200" cy="3416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对象 5"/>
          <p:cNvGraphicFramePr/>
          <p:nvPr/>
        </p:nvGraphicFramePr>
        <p:xfrm>
          <a:off x="1365885" y="1142365"/>
          <a:ext cx="9852025" cy="3973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8648700" imgH="2774950" progId="Paint.Picture">
                  <p:embed/>
                </p:oleObj>
              </mc:Choice>
              <mc:Fallback>
                <p:oleObj name="" r:id="rId1" imgW="8648700" imgH="277495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65885" y="1142365"/>
                        <a:ext cx="9852025" cy="39738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137160"/>
            <a:ext cx="4029075" cy="6112510"/>
          </a:xfrm>
        </p:spPr>
        <p:txBody>
          <a:bodyPr>
            <a:normAutofit/>
          </a:bodyPr>
          <a:p>
            <a:r>
              <a:rPr lang="en-US" altLang="zh-CN"/>
              <a:t>DEST DB 20 DUP(?)</a:t>
            </a:r>
            <a:endParaRPr lang="en-US" altLang="zh-CN"/>
          </a:p>
          <a:p>
            <a:r>
              <a:rPr lang="en-US" altLang="zh-CN"/>
              <a:t>DATA ENDS</a:t>
            </a:r>
            <a:endParaRPr lang="en-US" altLang="zh-CN"/>
          </a:p>
          <a:p>
            <a:r>
              <a:rPr lang="en-US" altLang="zh-CN"/>
              <a:t>MYSTACK SEGMENT</a:t>
            </a:r>
            <a:endParaRPr lang="en-US" altLang="zh-CN"/>
          </a:p>
          <a:p>
            <a:r>
              <a:rPr lang="en-US" altLang="zh-CN"/>
              <a:t>…</a:t>
            </a:r>
            <a:endParaRPr lang="en-US" altLang="zh-CN"/>
          </a:p>
          <a:p>
            <a:r>
              <a:rPr lang="en-US" altLang="zh-CN"/>
              <a:t>MYSTACK ENDS</a:t>
            </a:r>
            <a:endParaRPr lang="en-US" altLang="zh-CN"/>
          </a:p>
          <a:p>
            <a:r>
              <a:rPr lang="en-US" altLang="zh-CN"/>
              <a:t>MYCODE SEGMENT</a:t>
            </a:r>
            <a:endParaRPr lang="en-US" altLang="zh-CN"/>
          </a:p>
          <a:p>
            <a:r>
              <a:rPr lang="en-US" altLang="zh-CN"/>
              <a:t>ASSUME …</a:t>
            </a:r>
            <a:endParaRPr lang="en-US" altLang="zh-CN"/>
          </a:p>
          <a:p>
            <a:r>
              <a:rPr lang="en-US" altLang="zh-CN"/>
              <a:t>BEGIN</a:t>
            </a:r>
            <a:r>
              <a:rPr lang="zh-CN" altLang="en-US"/>
              <a:t>：</a:t>
            </a:r>
            <a:r>
              <a:rPr lang="en-US" altLang="zh-CN"/>
              <a:t> MOV  AX, DATA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025005" y="264160"/>
            <a:ext cx="2975610" cy="611251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        MOV  DS, AX</a:t>
            </a:r>
            <a:endParaRPr lang="en-US" altLang="zh-CN"/>
          </a:p>
          <a:p>
            <a:r>
              <a:rPr lang="en-US" altLang="zh-CN"/>
              <a:t>        MOV  ES, AX</a:t>
            </a:r>
            <a:endParaRPr lang="en-US" altLang="zh-CN"/>
          </a:p>
          <a:p>
            <a:r>
              <a:rPr lang="en-US" altLang="zh-CN"/>
              <a:t>        MOV  SI, SOURCE</a:t>
            </a:r>
            <a:endParaRPr lang="en-US" altLang="zh-CN"/>
          </a:p>
          <a:p>
            <a:r>
              <a:rPr lang="en-US" altLang="zh-CN"/>
              <a:t>        MOV  DI, DEST</a:t>
            </a:r>
            <a:endParaRPr lang="en-US" altLang="zh-CN"/>
          </a:p>
          <a:p>
            <a:r>
              <a:rPr lang="en-US" altLang="zh-CN"/>
              <a:t>        MOV  CX, 20</a:t>
            </a:r>
            <a:endParaRPr lang="en-US" altLang="zh-CN"/>
          </a:p>
          <a:p>
            <a:r>
              <a:rPr lang="en-US" altLang="zh-CN"/>
              <a:t>        CLD</a:t>
            </a:r>
            <a:endParaRPr lang="en-US" altLang="zh-CN"/>
          </a:p>
          <a:p>
            <a:r>
              <a:rPr lang="en-US" altLang="zh-CN"/>
              <a:t>REP  MOVSB</a:t>
            </a:r>
            <a:endParaRPr lang="en-US" altLang="zh-CN"/>
          </a:p>
          <a:p>
            <a:r>
              <a:rPr lang="en-US" altLang="zh-CN"/>
              <a:t>MOV AH,4CH</a:t>
            </a:r>
            <a:endParaRPr lang="en-US" altLang="zh-CN"/>
          </a:p>
          <a:p>
            <a:r>
              <a:rPr lang="en-US" altLang="zh-CN"/>
              <a:t>INT 21H</a:t>
            </a:r>
            <a:endParaRPr lang="en-US" altLang="zh-CN"/>
          </a:p>
          <a:p>
            <a:r>
              <a:rPr lang="en-US" altLang="zh-CN"/>
              <a:t>MYCODE ENDS</a:t>
            </a:r>
            <a:endParaRPr lang="en-US" altLang="zh-CN"/>
          </a:p>
          <a:p>
            <a:r>
              <a:rPr lang="en-US" altLang="zh-CN"/>
              <a:t>END BEGIN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用</a:t>
            </a:r>
            <a:r>
              <a:rPr lang="en-US" altLang="zh-CN"/>
              <a:t>512K</a:t>
            </a:r>
            <a:r>
              <a:rPr lang="en-US" altLang="en-US"/>
              <a:t>×</a:t>
            </a:r>
            <a:r>
              <a:rPr lang="en-US" altLang="zh-CN"/>
              <a:t>8</a:t>
            </a:r>
            <a:r>
              <a:rPr lang="zh-CN" altLang="en-US"/>
              <a:t>位的</a:t>
            </a:r>
            <a:r>
              <a:rPr lang="en-US" altLang="zh-CN"/>
              <a:t>Flash</a:t>
            </a:r>
            <a:r>
              <a:rPr lang="zh-CN" altLang="en-US"/>
              <a:t>存储芯片，组成一个具有</a:t>
            </a:r>
            <a:r>
              <a:rPr lang="en-US" altLang="zh-CN"/>
              <a:t>22</a:t>
            </a:r>
            <a:r>
              <a:rPr lang="zh-CN" altLang="en-US"/>
              <a:t>位地址和</a:t>
            </a:r>
            <a:r>
              <a:rPr lang="en-US" altLang="zh-CN"/>
              <a:t>8</a:t>
            </a:r>
            <a:r>
              <a:rPr lang="zh-CN" altLang="en-US"/>
              <a:t>位字长的半导体只读存储器。写出地址分配、片选逻辑，并画出逻辑连接图。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主存：</a:t>
            </a:r>
            <a:r>
              <a:rPr lang="en-US" altLang="zh-CN"/>
              <a:t>AB——22</a:t>
            </a:r>
            <a:r>
              <a:rPr lang="zh-CN" altLang="en-US"/>
              <a:t>根，</a:t>
            </a:r>
            <a:r>
              <a:rPr lang="en-US" altLang="zh-CN"/>
              <a:t>DB——8</a:t>
            </a:r>
            <a:r>
              <a:rPr lang="zh-CN" altLang="en-US"/>
              <a:t>根</a:t>
            </a:r>
            <a:r>
              <a:rPr lang="en-US" altLang="zh-CN"/>
              <a:t>      </a:t>
            </a:r>
            <a:r>
              <a:rPr lang="zh-CN" altLang="en-US"/>
              <a:t>芯片：</a:t>
            </a:r>
            <a:r>
              <a:rPr lang="en-US" altLang="zh-CN"/>
              <a:t>AB——19</a:t>
            </a:r>
            <a:r>
              <a:rPr lang="zh-CN" altLang="en-US"/>
              <a:t>根，</a:t>
            </a:r>
            <a:r>
              <a:rPr lang="en-US" altLang="zh-CN"/>
              <a:t>DB——8</a:t>
            </a:r>
            <a:r>
              <a:rPr lang="zh-CN" altLang="en-US"/>
              <a:t>根</a:t>
            </a:r>
            <a:endParaRPr lang="zh-CN" altLang="en-US"/>
          </a:p>
          <a:p>
            <a:r>
              <a:rPr lang="zh-CN" altLang="en-US"/>
              <a:t>共需要</a:t>
            </a:r>
            <a:r>
              <a:rPr lang="en-US" altLang="zh-CN"/>
              <a:t>8</a:t>
            </a:r>
            <a:r>
              <a:rPr lang="zh-CN" altLang="en-US"/>
              <a:t>片，字扩展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A20 A19 A18 = 000——</a:t>
            </a:r>
            <a:r>
              <a:rPr lang="zh-CN" altLang="en-US"/>
              <a:t>第一片</a:t>
            </a:r>
            <a:endParaRPr lang="zh-CN" altLang="en-US"/>
          </a:p>
          <a:p>
            <a:r>
              <a:rPr lang="en-US" altLang="zh-CN"/>
              <a:t>A20 A19 A18 = 001——</a:t>
            </a:r>
            <a:r>
              <a:rPr lang="zh-CN" altLang="en-US"/>
              <a:t>第二片</a:t>
            </a:r>
            <a:r>
              <a:rPr lang="en-US" altLang="zh-CN"/>
              <a:t> ……</a:t>
            </a:r>
            <a:endParaRPr lang="en-US" altLang="zh-CN"/>
          </a:p>
          <a:p>
            <a:r>
              <a:rPr lang="en-US" altLang="zh-CN"/>
              <a:t>A20 A19 A18 = 111——</a:t>
            </a:r>
            <a:r>
              <a:rPr lang="zh-CN" altLang="en-US"/>
              <a:t>第八片</a:t>
            </a:r>
            <a:r>
              <a:rPr lang="en-US" altLang="zh-CN"/>
              <a:t>     </a:t>
            </a:r>
            <a:r>
              <a:rPr lang="zh-CN" altLang="en-US"/>
              <a:t>地址分配正确</a:t>
            </a:r>
            <a:endParaRPr lang="en-US" altLang="zh-CN"/>
          </a:p>
          <a:p>
            <a:r>
              <a:rPr lang="zh-CN" altLang="en-US"/>
              <a:t>图略</a:t>
            </a:r>
            <a:r>
              <a:rPr lang="en-US" altLang="zh-CN"/>
              <a:t> </a:t>
            </a:r>
            <a:r>
              <a:rPr lang="zh-CN" altLang="en-US"/>
              <a:t>结构、连线基本正确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用</a:t>
            </a:r>
            <a:r>
              <a:rPr lang="en-US" altLang="zh-CN"/>
              <a:t> 16K</a:t>
            </a:r>
            <a:r>
              <a:rPr lang="en-US" altLang="en-US"/>
              <a:t>×</a:t>
            </a:r>
            <a:r>
              <a:rPr lang="en-US" altLang="zh-CN"/>
              <a:t>8 </a:t>
            </a:r>
            <a:r>
              <a:rPr lang="zh-CN" altLang="en-US"/>
              <a:t>位的</a:t>
            </a:r>
            <a:r>
              <a:rPr lang="en-US" altLang="zh-CN"/>
              <a:t> DRAM </a:t>
            </a:r>
            <a:r>
              <a:rPr lang="zh-CN" altLang="en-US"/>
              <a:t>芯片构成</a:t>
            </a:r>
            <a:r>
              <a:rPr lang="en-US" altLang="zh-CN"/>
              <a:t> 128K</a:t>
            </a:r>
            <a:r>
              <a:rPr lang="en-US" altLang="en-US"/>
              <a:t>×</a:t>
            </a:r>
            <a:r>
              <a:rPr lang="en-US" altLang="zh-CN"/>
              <a:t>8 </a:t>
            </a:r>
            <a:r>
              <a:rPr lang="zh-CN" altLang="en-US"/>
              <a:t>位的存储器。写出地址分配、片选</a:t>
            </a:r>
            <a:endParaRPr lang="zh-CN" altLang="en-US"/>
          </a:p>
          <a:p>
            <a:r>
              <a:rPr lang="zh-CN" altLang="en-US"/>
              <a:t>逻辑，并画出逻辑连接图。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主存：</a:t>
            </a:r>
            <a:r>
              <a:rPr lang="en-US" altLang="zh-CN"/>
              <a:t> AB——17</a:t>
            </a:r>
            <a:r>
              <a:rPr lang="zh-CN" altLang="en-US"/>
              <a:t>根，</a:t>
            </a:r>
            <a:r>
              <a:rPr lang="en-US" altLang="zh-CN"/>
              <a:t>DB——8</a:t>
            </a:r>
            <a:r>
              <a:rPr lang="zh-CN" altLang="en-US"/>
              <a:t>根</a:t>
            </a:r>
            <a:r>
              <a:rPr lang="en-US" altLang="zh-CN"/>
              <a:t>      </a:t>
            </a:r>
            <a:r>
              <a:rPr lang="zh-CN" altLang="en-US"/>
              <a:t>芯片：</a:t>
            </a:r>
            <a:r>
              <a:rPr lang="en-US" altLang="zh-CN"/>
              <a:t>AB——14</a:t>
            </a:r>
            <a:r>
              <a:rPr lang="zh-CN" altLang="en-US"/>
              <a:t>根，</a:t>
            </a:r>
            <a:r>
              <a:rPr lang="en-US" altLang="zh-CN"/>
              <a:t>DB——8</a:t>
            </a:r>
            <a:r>
              <a:rPr lang="zh-CN" altLang="en-US"/>
              <a:t>根</a:t>
            </a:r>
            <a:endParaRPr lang="zh-CN" altLang="en-US"/>
          </a:p>
          <a:p>
            <a:r>
              <a:rPr lang="zh-CN" altLang="en-US"/>
              <a:t>共需要</a:t>
            </a:r>
            <a:r>
              <a:rPr lang="en-US" altLang="zh-CN"/>
              <a:t>8</a:t>
            </a:r>
            <a:r>
              <a:rPr lang="zh-CN" altLang="en-US"/>
              <a:t>片，字扩展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A16 A15 A14 = 000——</a:t>
            </a:r>
            <a:r>
              <a:rPr lang="zh-CN" altLang="en-US"/>
              <a:t>第一片</a:t>
            </a:r>
            <a:endParaRPr lang="zh-CN" altLang="en-US"/>
          </a:p>
          <a:p>
            <a:r>
              <a:rPr lang="en-US" altLang="zh-CN"/>
              <a:t>A16 A15 A14 = 001——</a:t>
            </a:r>
            <a:r>
              <a:rPr lang="zh-CN" altLang="en-US"/>
              <a:t>第二片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A16 A15 A14 = 111——</a:t>
            </a:r>
            <a:r>
              <a:rPr lang="zh-CN" altLang="en-US"/>
              <a:t>第八片</a:t>
            </a:r>
            <a:r>
              <a:rPr lang="en-US" altLang="zh-CN"/>
              <a:t>     </a:t>
            </a:r>
            <a:r>
              <a:rPr lang="zh-CN" altLang="en-US"/>
              <a:t>地址分配正确</a:t>
            </a:r>
            <a:endParaRPr lang="zh-CN" altLang="en-US"/>
          </a:p>
          <a:p>
            <a:r>
              <a:rPr lang="zh-CN" altLang="en-US"/>
              <a:t>图略</a:t>
            </a:r>
            <a:r>
              <a:rPr lang="en-US" altLang="zh-CN"/>
              <a:t> </a:t>
            </a:r>
            <a:r>
              <a:rPr lang="zh-CN" altLang="en-US"/>
              <a:t>结构、连线基本正确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3713" name="文本框 287745"/>
          <p:cNvSpPr txBox="1"/>
          <p:nvPr/>
        </p:nvSpPr>
        <p:spPr>
          <a:xfrm>
            <a:off x="2133600" y="381000"/>
            <a:ext cx="6554788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0"/>
              </a:spcBef>
            </a:pP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600">
                <a:latin typeface="Times New Roman" panose="02020603050405020304" pitchFamily="18" charset="0"/>
              </a:rPr>
              <a:t>4) Cache –</a:t>
            </a:r>
            <a:r>
              <a:rPr lang="zh-CN" altLang="en-US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主存系统的效率</a:t>
            </a:r>
            <a:endParaRPr lang="zh-CN" altLang="en-US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7747" name="文本框 287746"/>
          <p:cNvSpPr txBox="1"/>
          <p:nvPr/>
        </p:nvSpPr>
        <p:spPr>
          <a:xfrm>
            <a:off x="2754313" y="1308100"/>
            <a:ext cx="6797675" cy="5835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效率 </a:t>
            </a:r>
            <a:r>
              <a:rPr lang="en-US" altLang="zh-CN" sz="3200" i="1">
                <a:solidFill>
                  <a:schemeClr val="folHlink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命中率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有关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7748" name="文本框 287747"/>
          <p:cNvSpPr txBox="1"/>
          <p:nvPr/>
        </p:nvSpPr>
        <p:spPr>
          <a:xfrm>
            <a:off x="2587625" y="3573463"/>
            <a:ext cx="8116888" cy="17735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en-US" altLang="zh-CN" sz="90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sz="2800">
                <a:latin typeface="Times New Roman" panose="02020603050405020304" pitchFamily="18" charset="0"/>
              </a:rPr>
              <a:t>Cache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命中率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为 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访问 </a:t>
            </a:r>
            <a:r>
              <a:rPr lang="en-US" altLang="en-US" sz="2800">
                <a:latin typeface="Times New Roman" panose="02020603050405020304" pitchFamily="18" charset="0"/>
              </a:rPr>
              <a:t>Cache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的时间为 </a:t>
            </a:r>
            <a:r>
              <a:rPr lang="en-US" altLang="zh-CN" sz="2800" i="1" err="1">
                <a:latin typeface="Times New Roman" panose="02020603050405020304" pitchFamily="18" charset="0"/>
              </a:rPr>
              <a:t>t</a:t>
            </a:r>
            <a:r>
              <a:rPr lang="en-US" altLang="zh-CN" sz="2800" i="1" baseline="-25000" err="1">
                <a:latin typeface="Times New Roman" panose="02020603050405020304" pitchFamily="18" charset="0"/>
              </a:rPr>
              <a:t>c</a:t>
            </a:r>
            <a:r>
              <a:rPr lang="en-US" altLang="zh-CN" sz="900" i="1" baseline="-25000">
                <a:latin typeface="Times New Roman" panose="02020603050405020304" pitchFamily="18" charset="0"/>
              </a:rPr>
              <a:t>  </a:t>
            </a:r>
            <a:r>
              <a:rPr lang="zh-CN" altLang="en-US" sz="2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sz="2800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800" i="1" baseline="-25000">
                <a:latin typeface="Times New Roman" panose="02020603050405020304" pitchFamily="18" charset="0"/>
              </a:rPr>
              <a:t>          </a:t>
            </a:r>
            <a:r>
              <a:rPr lang="en-US" altLang="zh-CN" sz="2800" err="1">
                <a:latin typeface="Times New Roman" panose="02020603050405020304" pitchFamily="18" charset="0"/>
              </a:rPr>
              <a:t>访问</a:t>
            </a: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主存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的时间为 </a:t>
            </a:r>
            <a:r>
              <a:rPr lang="en-US" altLang="zh-CN" sz="2800" i="1">
                <a:latin typeface="Times New Roman" panose="02020603050405020304" pitchFamily="18" charset="0"/>
              </a:rPr>
              <a:t>t</a:t>
            </a:r>
            <a:r>
              <a:rPr lang="en-US" altLang="zh-CN" sz="2800" i="1" baseline="-25000">
                <a:latin typeface="Times New Roman" panose="02020603050405020304" pitchFamily="18" charset="0"/>
              </a:rPr>
              <a:t>m</a:t>
            </a:r>
            <a:endParaRPr lang="en-US" altLang="zh-CN" sz="2800" i="1" baseline="-250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   </a:t>
            </a:r>
            <a:endParaRPr lang="en-US" altLang="zh-CN" sz="2400" i="1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altLang="zh-CN" sz="2800" i="1" baseline="-25000">
              <a:latin typeface="Times New Roman" panose="02020603050405020304" pitchFamily="18" charset="0"/>
            </a:endParaRPr>
          </a:p>
        </p:txBody>
      </p:sp>
      <p:sp>
        <p:nvSpPr>
          <p:cNvPr id="287749" name="矩形 287748"/>
          <p:cNvSpPr/>
          <p:nvPr/>
        </p:nvSpPr>
        <p:spPr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p>
            <a:pPr lvl="0" algn="ctr" fontAlgn="base">
              <a:spcBef>
                <a:spcPct val="0"/>
              </a:spcBef>
            </a:pPr>
            <a:r>
              <a:rPr lang="zh-CN" altLang="en-US" sz="4400" b="1" strike="noStrike" noProof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4.3</a:t>
            </a:r>
            <a:endParaRPr lang="zh-CN" altLang="en-US" sz="4400" b="1" strike="noStrike" noProof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87750" name="组合 287749"/>
          <p:cNvGrpSpPr/>
          <p:nvPr/>
        </p:nvGrpSpPr>
        <p:grpSpPr>
          <a:xfrm>
            <a:off x="2740025" y="4076700"/>
            <a:ext cx="8035925" cy="1676400"/>
            <a:chOff x="766" y="2568"/>
            <a:chExt cx="5062" cy="1056"/>
          </a:xfrm>
        </p:grpSpPr>
        <p:sp>
          <p:nvSpPr>
            <p:cNvPr id="243718" name="文本框 287750"/>
            <p:cNvSpPr txBox="1"/>
            <p:nvPr/>
          </p:nvSpPr>
          <p:spPr>
            <a:xfrm>
              <a:off x="766" y="3158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则 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43719" name="组合 287751"/>
            <p:cNvGrpSpPr/>
            <p:nvPr/>
          </p:nvGrpSpPr>
          <p:grpSpPr>
            <a:xfrm>
              <a:off x="929" y="2568"/>
              <a:ext cx="4899" cy="1056"/>
              <a:chOff x="929" y="2568"/>
              <a:chExt cx="4899" cy="1056"/>
            </a:xfrm>
          </p:grpSpPr>
          <p:sp>
            <p:nvSpPr>
              <p:cNvPr id="243720" name="文本框 287752"/>
              <p:cNvSpPr txBox="1"/>
              <p:nvPr/>
            </p:nvSpPr>
            <p:spPr>
              <a:xfrm>
                <a:off x="1020" y="3112"/>
                <a:ext cx="4757" cy="3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3000" i="1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 =                                    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×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 100%</a:t>
                </a:r>
                <a:endPara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721" name="文本框 287753"/>
              <p:cNvSpPr txBox="1"/>
              <p:nvPr/>
            </p:nvSpPr>
            <p:spPr>
              <a:xfrm>
                <a:off x="929" y="2568"/>
                <a:ext cx="38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en-US" sz="2400" b="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722" name="文本框 287754"/>
              <p:cNvSpPr txBox="1"/>
              <p:nvPr/>
            </p:nvSpPr>
            <p:spPr>
              <a:xfrm>
                <a:off x="1071" y="2976"/>
                <a:ext cx="4757" cy="6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0"/>
                  </a:spcBef>
                </a:pPr>
                <a:r>
                  <a:rPr lang="en-US" altLang="zh-CN" sz="2800" i="1">
                    <a:latin typeface="Times New Roman" panose="02020603050405020304" pitchFamily="18" charset="0"/>
                  </a:rPr>
                  <a:t>                         </a:t>
                </a:r>
                <a:r>
                  <a:rPr lang="en-US" altLang="zh-CN" sz="2800" i="1" err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 i="1" baseline="-25000" err="1">
                    <a:latin typeface="Times New Roman" panose="02020603050405020304" pitchFamily="18" charset="0"/>
                  </a:rPr>
                  <a:t>c</a:t>
                </a:r>
                <a:endParaRPr lang="en-US" altLang="zh-CN" sz="2800" i="1" baseline="-2500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</a:pPr>
                <a:endParaRPr lang="zh-CN" altLang="en-US" sz="28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723" name="文本框 287755"/>
              <p:cNvSpPr txBox="1"/>
              <p:nvPr/>
            </p:nvSpPr>
            <p:spPr>
              <a:xfrm>
                <a:off x="1071" y="3276"/>
                <a:ext cx="4757" cy="3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0"/>
                  </a:spcBef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          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h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×</a:t>
                </a:r>
                <a:r>
                  <a:rPr lang="en-US" altLang="zh-CN" sz="2400" b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i="1" err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 i="1" baseline="-25000" err="1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+ 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(1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r>
                  <a:rPr lang="en-US" altLang="zh-CN" sz="3000" i="1">
                    <a:latin typeface="Times New Roman" panose="02020603050405020304" pitchFamily="18" charset="0"/>
                  </a:rPr>
                  <a:t>h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)× </a:t>
                </a:r>
                <a:r>
                  <a:rPr lang="en-US" altLang="zh-CN" sz="3000" i="1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3000" i="1" baseline="-25000">
                    <a:latin typeface="Times New Roman" panose="02020603050405020304" pitchFamily="18" charset="0"/>
                  </a:rPr>
                  <a:t>m</a:t>
                </a:r>
                <a:endParaRPr lang="zh-CN" altLang="en-US" sz="3000" i="1" baseline="-25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724" name="直接连接符 287756"/>
              <p:cNvSpPr/>
              <p:nvPr/>
            </p:nvSpPr>
            <p:spPr>
              <a:xfrm>
                <a:off x="1543" y="3303"/>
                <a:ext cx="19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87758" name="组合 287757"/>
          <p:cNvGrpSpPr/>
          <p:nvPr/>
        </p:nvGrpSpPr>
        <p:grpSpPr>
          <a:xfrm>
            <a:off x="3000375" y="1557338"/>
            <a:ext cx="7777163" cy="1646237"/>
            <a:chOff x="930" y="981"/>
            <a:chExt cx="4899" cy="1037"/>
          </a:xfrm>
        </p:grpSpPr>
        <p:sp>
          <p:nvSpPr>
            <p:cNvPr id="243726" name="文本框 287758"/>
            <p:cNvSpPr txBox="1"/>
            <p:nvPr/>
          </p:nvSpPr>
          <p:spPr>
            <a:xfrm>
              <a:off x="930" y="981"/>
              <a:ext cx="38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en-US" sz="2400" b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3727" name="文本框 287759"/>
            <p:cNvSpPr txBox="1"/>
            <p:nvPr/>
          </p:nvSpPr>
          <p:spPr>
            <a:xfrm>
              <a:off x="1072" y="1389"/>
              <a:ext cx="475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0"/>
                </a:spcBef>
              </a:pPr>
              <a:r>
                <a:rPr lang="en-US" altLang="zh-CN" sz="2800">
                  <a:latin typeface="Times New Roman" panose="02020603050405020304" pitchFamily="18" charset="0"/>
                </a:rPr>
                <a:t>         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访问 </a:t>
              </a:r>
              <a:r>
                <a:rPr lang="en-US" altLang="zh-CN" sz="2800">
                  <a:latin typeface="Times New Roman" panose="02020603050405020304" pitchFamily="18" charset="0"/>
                </a:rPr>
                <a:t>Cache 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的时间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3728" name="文本框 287760"/>
            <p:cNvSpPr txBox="1"/>
            <p:nvPr/>
          </p:nvSpPr>
          <p:spPr>
            <a:xfrm>
              <a:off x="1072" y="1689"/>
              <a:ext cx="475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0"/>
                </a:spcBef>
              </a:pPr>
              <a:r>
                <a:rPr lang="en-US" altLang="zh-CN" sz="2800">
                  <a:latin typeface="Times New Roman" panose="02020603050405020304" pitchFamily="18" charset="0"/>
                </a:rPr>
                <a:t>            </a:t>
              </a: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平均访问时间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3729" name="直接连接符 287761"/>
            <p:cNvSpPr/>
            <p:nvPr/>
          </p:nvSpPr>
          <p:spPr>
            <a:xfrm>
              <a:off x="1543" y="1716"/>
              <a:ext cx="19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3730" name="文本框 287762"/>
            <p:cNvSpPr txBox="1"/>
            <p:nvPr/>
          </p:nvSpPr>
          <p:spPr>
            <a:xfrm>
              <a:off x="1021" y="1525"/>
              <a:ext cx="4757" cy="3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0"/>
                </a:spcBef>
              </a:pPr>
              <a:r>
                <a:rPr lang="en-US" altLang="zh-CN" sz="2800">
                  <a:latin typeface="Times New Roman" panose="02020603050405020304" pitchFamily="18" charset="0"/>
                </a:rPr>
                <a:t>  </a:t>
              </a:r>
              <a:r>
                <a:rPr lang="en-US" altLang="zh-CN" sz="3000" i="1">
                  <a:latin typeface="Times New Roman" panose="02020603050405020304" pitchFamily="18" charset="0"/>
                </a:rPr>
                <a:t>e</a:t>
              </a:r>
              <a:r>
                <a:rPr lang="en-US" altLang="zh-CN" sz="2800">
                  <a:latin typeface="Times New Roman" panose="02020603050405020304" pitchFamily="18" charset="0"/>
                </a:rPr>
                <a:t> =                                     </a:t>
              </a:r>
              <a:r>
                <a:rPr lang="en-US" altLang="zh-CN" sz="2400">
                  <a:latin typeface="Times New Roman" panose="02020603050405020304" pitchFamily="18" charset="0"/>
                </a:rPr>
                <a:t>×</a:t>
              </a:r>
              <a:r>
                <a:rPr lang="en-US" altLang="zh-CN" sz="2800">
                  <a:latin typeface="Times New Roman" panose="02020603050405020304" pitchFamily="18" charset="0"/>
                </a:rPr>
                <a:t> 100%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3731" name="动作按钮: 结束 287763">
            <a:hlinkClick r:id="" action="ppaction://noaction"/>
          </p:cNvPr>
          <p:cNvSpPr/>
          <p:nvPr/>
        </p:nvSpPr>
        <p:spPr>
          <a:xfrm>
            <a:off x="10113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7" grpId="0"/>
      <p:bldP spid="28774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有一计算机，主存容量</a:t>
            </a:r>
            <a:r>
              <a:rPr lang="en-US" altLang="zh-CN"/>
              <a:t>1MB</a:t>
            </a:r>
            <a:r>
              <a:rPr lang="zh-CN" altLang="en-US"/>
              <a:t>，字节寻址，</a:t>
            </a:r>
            <a:r>
              <a:rPr lang="en-US" altLang="zh-CN"/>
              <a:t>Cache</a:t>
            </a:r>
            <a:r>
              <a:rPr lang="zh-CN" altLang="en-US"/>
              <a:t>容量</a:t>
            </a:r>
            <a:r>
              <a:rPr lang="en-US" altLang="zh-CN"/>
              <a:t>64KB</a:t>
            </a:r>
            <a:r>
              <a:rPr lang="zh-CN" altLang="en-US"/>
              <a:t>，块的大小</a:t>
            </a:r>
            <a:r>
              <a:rPr lang="en-US" altLang="zh-CN"/>
              <a:t>8KB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假设采用直接映像式的</a:t>
            </a:r>
            <a:r>
              <a:rPr lang="en-US" altLang="zh-CN"/>
              <a:t>Cache</a:t>
            </a:r>
            <a:r>
              <a:rPr lang="zh-CN" altLang="en-US"/>
              <a:t>，请回答：</a:t>
            </a:r>
            <a:endParaRPr lang="zh-CN" altLang="en-US"/>
          </a:p>
          <a:p>
            <a:r>
              <a:rPr lang="en-US" altLang="zh-CN"/>
              <a:t>(1)</a:t>
            </a:r>
            <a:r>
              <a:rPr lang="zh-CN" altLang="en-US"/>
              <a:t>主存地址应包括那些字段？分别分配多少位？</a:t>
            </a:r>
            <a:endParaRPr lang="zh-CN" altLang="en-US"/>
          </a:p>
          <a:p>
            <a:r>
              <a:rPr lang="en-US" altLang="zh-CN"/>
              <a:t>(2)</a:t>
            </a:r>
            <a:r>
              <a:rPr lang="zh-CN" altLang="en-US"/>
              <a:t>如果命中，主存地址为</a:t>
            </a:r>
            <a:r>
              <a:rPr lang="en-US" altLang="zh-CN"/>
              <a:t>23501H</a:t>
            </a:r>
            <a:r>
              <a:rPr lang="zh-CN" altLang="en-US"/>
              <a:t>的内容将被存入</a:t>
            </a:r>
            <a:r>
              <a:rPr lang="en-US" altLang="zh-CN"/>
              <a:t>Cache</a:t>
            </a:r>
            <a:r>
              <a:rPr lang="zh-CN" altLang="en-US"/>
              <a:t>的哪一块？</a:t>
            </a:r>
            <a:endParaRPr lang="zh-CN" altLang="en-US"/>
          </a:p>
          <a:p>
            <a:r>
              <a:rPr lang="en-US" altLang="zh-CN"/>
              <a:t>(3)</a:t>
            </a:r>
            <a:r>
              <a:rPr lang="zh-CN" altLang="en-US"/>
              <a:t>若</a:t>
            </a:r>
            <a:r>
              <a:rPr lang="en-US" altLang="zh-CN"/>
              <a:t>cache </a:t>
            </a:r>
            <a:r>
              <a:rPr lang="zh-CN" altLang="en-US"/>
              <a:t>的存取周期为</a:t>
            </a:r>
            <a:r>
              <a:rPr lang="en-US" altLang="zh-CN"/>
              <a:t>40ns</a:t>
            </a:r>
            <a:r>
              <a:rPr lang="zh-CN" altLang="en-US"/>
              <a:t>，主存的存取周期为</a:t>
            </a:r>
            <a:r>
              <a:rPr lang="en-US" altLang="zh-CN"/>
              <a:t>200ns</a:t>
            </a:r>
            <a:r>
              <a:rPr lang="zh-CN" altLang="en-US"/>
              <a:t>。已知在一段给定的时间</a:t>
            </a:r>
            <a:endParaRPr lang="zh-CN" altLang="en-US"/>
          </a:p>
          <a:p>
            <a:r>
              <a:rPr lang="zh-CN" altLang="en-US"/>
              <a:t>内，</a:t>
            </a:r>
            <a:r>
              <a:rPr lang="en-US" altLang="zh-CN"/>
              <a:t>CPU </a:t>
            </a:r>
            <a:r>
              <a:rPr lang="zh-CN" altLang="en-US"/>
              <a:t>共访问内存</a:t>
            </a:r>
            <a:r>
              <a:rPr lang="en-US" altLang="zh-CN"/>
              <a:t>5000</a:t>
            </a:r>
            <a:r>
              <a:rPr lang="zh-CN" altLang="en-US"/>
              <a:t>次，其中</a:t>
            </a:r>
            <a:r>
              <a:rPr lang="en-US" altLang="zh-CN"/>
              <a:t>400</a:t>
            </a:r>
            <a:r>
              <a:rPr lang="zh-CN" altLang="en-US"/>
              <a:t>次访问主存。问</a:t>
            </a:r>
            <a:r>
              <a:rPr lang="en-US" altLang="zh-CN"/>
              <a:t>cache</a:t>
            </a:r>
            <a:r>
              <a:rPr lang="zh-CN" altLang="en-US"/>
              <a:t>的命中率是多少？</a:t>
            </a:r>
            <a:endParaRPr lang="zh-CN" altLang="en-US"/>
          </a:p>
          <a:p>
            <a:r>
              <a:rPr lang="en-US" altLang="zh-CN"/>
              <a:t>CPU</a:t>
            </a:r>
            <a:r>
              <a:rPr lang="zh-CN" altLang="en-US"/>
              <a:t>访存的平均时间是多少</a:t>
            </a:r>
            <a:r>
              <a:rPr lang="en-US" altLang="zh-CN"/>
              <a:t>ns</a:t>
            </a:r>
            <a:r>
              <a:rPr lang="zh-CN" altLang="en-US"/>
              <a:t>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有一计算机，主存容量</a:t>
            </a:r>
            <a:r>
              <a:rPr lang="en-US" altLang="zh-CN"/>
              <a:t>1MB</a:t>
            </a:r>
            <a:r>
              <a:rPr lang="zh-CN" altLang="en-US"/>
              <a:t>，字节寻址，</a:t>
            </a:r>
            <a:r>
              <a:rPr lang="en-US" altLang="zh-CN"/>
              <a:t>Cache</a:t>
            </a:r>
            <a:r>
              <a:rPr lang="zh-CN" altLang="en-US"/>
              <a:t>容量</a:t>
            </a:r>
            <a:r>
              <a:rPr lang="en-US" altLang="zh-CN"/>
              <a:t>64KB</a:t>
            </a:r>
            <a:r>
              <a:rPr lang="zh-CN" altLang="en-US"/>
              <a:t>，块的大小</a:t>
            </a:r>
            <a:r>
              <a:rPr lang="en-US" altLang="zh-CN"/>
              <a:t>8KB</a:t>
            </a:r>
            <a:r>
              <a:rPr lang="zh-CN" altLang="en-US"/>
              <a:t>。假设采用直接映像式的</a:t>
            </a:r>
            <a:r>
              <a:rPr lang="en-US" altLang="zh-CN"/>
              <a:t>Cache</a:t>
            </a:r>
            <a:r>
              <a:rPr lang="zh-CN" altLang="en-US"/>
              <a:t>，</a:t>
            </a:r>
            <a:endParaRPr lang="zh-CN" altLang="en-US"/>
          </a:p>
          <a:p>
            <a:r>
              <a:rPr lang="en-US" altLang="zh-CN"/>
              <a:t>(1)</a:t>
            </a:r>
            <a:r>
              <a:rPr lang="zh-CN" altLang="en-US"/>
              <a:t>主存地址应包括</a:t>
            </a:r>
            <a:r>
              <a:rPr lang="en-US" altLang="zh-CN"/>
              <a:t>3</a:t>
            </a:r>
            <a:r>
              <a:rPr lang="zh-CN" altLang="en-US"/>
              <a:t>部分：组号</a:t>
            </a:r>
            <a:r>
              <a:rPr lang="en-US" altLang="zh-CN"/>
              <a:t>4bit/</a:t>
            </a:r>
            <a:r>
              <a:rPr lang="zh-CN" altLang="en-US"/>
              <a:t>块号</a:t>
            </a:r>
            <a:r>
              <a:rPr lang="en-US" altLang="zh-CN"/>
              <a:t>3bit/</a:t>
            </a:r>
            <a:r>
              <a:rPr lang="zh-CN" altLang="en-US"/>
              <a:t>块内地址</a:t>
            </a:r>
            <a:r>
              <a:rPr lang="en-US" altLang="zh-CN"/>
              <a:t>13bit</a:t>
            </a:r>
            <a:endParaRPr lang="en-US" altLang="zh-CN"/>
          </a:p>
          <a:p>
            <a:r>
              <a:rPr lang="en-US" altLang="zh-CN"/>
              <a:t>(2) 23501H= 0010 001 1010100000001b</a:t>
            </a:r>
            <a:r>
              <a:rPr lang="zh-CN" altLang="en-US"/>
              <a:t>的内容将被存入</a:t>
            </a:r>
            <a:r>
              <a:rPr lang="en-US" altLang="zh-CN"/>
              <a:t>Cache</a:t>
            </a:r>
            <a:r>
              <a:rPr lang="zh-CN" altLang="en-US"/>
              <a:t>的</a:t>
            </a:r>
            <a:r>
              <a:rPr lang="en-US" altLang="zh-CN"/>
              <a:t>001</a:t>
            </a:r>
            <a:r>
              <a:rPr lang="zh-CN" altLang="en-US"/>
              <a:t>块</a:t>
            </a:r>
            <a:endParaRPr lang="zh-CN" altLang="en-US"/>
          </a:p>
          <a:p>
            <a:r>
              <a:rPr lang="en-US" altLang="zh-CN"/>
              <a:t>(3) cache</a:t>
            </a:r>
            <a:r>
              <a:rPr lang="zh-CN" altLang="en-US"/>
              <a:t>的命中率</a:t>
            </a:r>
            <a:r>
              <a:rPr lang="en-US" altLang="zh-CN"/>
              <a:t>=(5000-400)/5000=92%</a:t>
            </a:r>
            <a:endParaRPr lang="en-US" altLang="zh-CN"/>
          </a:p>
          <a:p>
            <a:r>
              <a:rPr lang="en-US" altLang="zh-CN"/>
              <a:t>CPU</a:t>
            </a:r>
            <a:r>
              <a:rPr lang="zh-CN" altLang="en-US"/>
              <a:t>访存的平均时间</a:t>
            </a:r>
            <a:r>
              <a:rPr lang="en-US" altLang="zh-CN"/>
              <a:t>=[(5000-400)*45+400*200]/5000=52.8ns.</a:t>
            </a:r>
            <a:endParaRPr lang="en-US" altLang="zh-CN"/>
          </a:p>
          <a:p>
            <a:r>
              <a:rPr lang="zh-CN" altLang="en-US"/>
              <a:t>看是否理解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）某计算机，</a:t>
            </a:r>
            <a:r>
              <a:rPr lang="en-US" altLang="zh-CN"/>
              <a:t>Cache </a:t>
            </a:r>
            <a:r>
              <a:rPr lang="zh-CN" altLang="en-US"/>
              <a:t>的容量大小为</a:t>
            </a:r>
            <a:r>
              <a:rPr lang="en-US" altLang="zh-CN"/>
              <a:t>64KB</a:t>
            </a:r>
            <a:r>
              <a:rPr lang="zh-CN" altLang="en-US"/>
              <a:t>，块的大小为</a:t>
            </a:r>
            <a:r>
              <a:rPr lang="en-US" altLang="zh-CN"/>
              <a:t>128B</a:t>
            </a:r>
            <a:r>
              <a:rPr lang="zh-CN" altLang="en-US"/>
              <a:t>，且是四路组相联</a:t>
            </a:r>
            <a:r>
              <a:rPr lang="en-US" altLang="zh-CN"/>
              <a:t> Cache</a:t>
            </a:r>
            <a:endParaRPr lang="en-US" altLang="zh-CN"/>
          </a:p>
          <a:p>
            <a:r>
              <a:rPr lang="zh-CN" altLang="en-US"/>
              <a:t>（每组</a:t>
            </a:r>
            <a:r>
              <a:rPr lang="en-US" altLang="zh-CN"/>
              <a:t> 4 </a:t>
            </a:r>
            <a:r>
              <a:rPr lang="zh-CN" altLang="en-US"/>
              <a:t>块），主存使用</a:t>
            </a:r>
            <a:r>
              <a:rPr lang="en-US" altLang="zh-CN"/>
              <a:t> 32 </a:t>
            </a:r>
            <a:r>
              <a:rPr lang="zh-CN" altLang="en-US"/>
              <a:t>位地址，按字节编址。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）该</a:t>
            </a:r>
            <a:r>
              <a:rPr lang="en-US" altLang="zh-CN"/>
              <a:t> Cache </a:t>
            </a:r>
            <a:r>
              <a:rPr lang="zh-CN" altLang="en-US"/>
              <a:t>共有多少块？分为多少组？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）主存分不分组？如果分组，为多少组？每一组多少块？如果不分组，总共多少块？</a:t>
            </a:r>
            <a:endParaRPr lang="zh-CN" altLang="en-US"/>
          </a:p>
          <a:p>
            <a:r>
              <a:rPr lang="zh-CN" altLang="en-US"/>
              <a:t>写出主存地址的结构并标明每一部分的地址位数）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(1)Cache</a:t>
            </a:r>
            <a:r>
              <a:rPr lang="zh-CN" altLang="en-US"/>
              <a:t>共有</a:t>
            </a:r>
            <a:r>
              <a:rPr lang="en-US" altLang="zh-CN"/>
              <a:t>64KB/128B=216/27=29=512</a:t>
            </a:r>
            <a:r>
              <a:rPr lang="zh-CN" altLang="en-US"/>
              <a:t>块，分为</a:t>
            </a:r>
            <a:r>
              <a:rPr lang="en-US" altLang="zh-CN"/>
              <a:t>512/4=128</a:t>
            </a:r>
            <a:r>
              <a:rPr lang="zh-CN" altLang="en-US"/>
              <a:t>组</a:t>
            </a:r>
            <a:endParaRPr lang="zh-CN" altLang="en-US"/>
          </a:p>
          <a:p>
            <a:r>
              <a:rPr lang="en-US" altLang="zh-CN"/>
              <a:t>Cache </a:t>
            </a:r>
            <a:r>
              <a:rPr lang="zh-CN" altLang="en-US"/>
              <a:t>地址结构：</a:t>
            </a:r>
            <a:r>
              <a:rPr lang="en-US" altLang="zh-CN"/>
              <a:t> </a:t>
            </a:r>
            <a:r>
              <a:rPr lang="zh-CN" altLang="en-US"/>
              <a:t>组号</a:t>
            </a:r>
            <a:r>
              <a:rPr lang="en-US" altLang="zh-CN"/>
              <a:t>7bit | </a:t>
            </a:r>
            <a:r>
              <a:rPr lang="zh-CN" altLang="en-US"/>
              <a:t>组内块号</a:t>
            </a:r>
            <a:r>
              <a:rPr lang="en-US" altLang="zh-CN"/>
              <a:t> 2bit | </a:t>
            </a:r>
            <a:r>
              <a:rPr lang="zh-CN" altLang="en-US"/>
              <a:t>块内地址</a:t>
            </a:r>
            <a:r>
              <a:rPr lang="en-US" altLang="zh-CN"/>
              <a:t> 7bit | </a:t>
            </a:r>
            <a:endParaRPr lang="en-US" altLang="zh-CN"/>
          </a:p>
          <a:p>
            <a:r>
              <a:rPr lang="en-US" altLang="zh-CN"/>
              <a:t>(2)</a:t>
            </a:r>
            <a:r>
              <a:rPr lang="zh-CN" altLang="en-US"/>
              <a:t>主存分组，每</a:t>
            </a:r>
            <a:r>
              <a:rPr lang="en-US" altLang="zh-CN"/>
              <a:t>128</a:t>
            </a:r>
            <a:r>
              <a:rPr lang="zh-CN" altLang="en-US"/>
              <a:t>块为一组，共分</a:t>
            </a:r>
            <a:r>
              <a:rPr lang="en-US" altLang="zh-CN"/>
              <a:t>218</a:t>
            </a:r>
            <a:r>
              <a:rPr lang="zh-CN" altLang="en-US"/>
              <a:t>组；每一组</a:t>
            </a:r>
            <a:r>
              <a:rPr lang="en-US" altLang="zh-CN"/>
              <a:t>128</a:t>
            </a:r>
            <a:r>
              <a:rPr lang="zh-CN" altLang="en-US"/>
              <a:t>块</a:t>
            </a:r>
            <a:endParaRPr lang="zh-CN" altLang="en-US"/>
          </a:p>
          <a:p>
            <a:r>
              <a:rPr lang="zh-CN" altLang="en-US"/>
              <a:t>主存</a:t>
            </a:r>
            <a:r>
              <a:rPr lang="en-US" altLang="zh-CN"/>
              <a:t> </a:t>
            </a:r>
            <a:r>
              <a:rPr lang="zh-CN" altLang="en-US"/>
              <a:t>地址结构：</a:t>
            </a:r>
            <a:r>
              <a:rPr lang="en-US" altLang="zh-CN"/>
              <a:t> </a:t>
            </a:r>
            <a:r>
              <a:rPr lang="zh-CN" altLang="en-US"/>
              <a:t>组号</a:t>
            </a:r>
            <a:r>
              <a:rPr lang="en-US" altLang="zh-CN"/>
              <a:t>18bit | </a:t>
            </a:r>
            <a:r>
              <a:rPr lang="zh-CN" altLang="en-US"/>
              <a:t>组内块号</a:t>
            </a:r>
            <a:r>
              <a:rPr lang="en-US" altLang="zh-CN"/>
              <a:t> 7bit | </a:t>
            </a:r>
            <a:r>
              <a:rPr lang="zh-CN" altLang="en-US"/>
              <a:t>块内地址</a:t>
            </a:r>
            <a:r>
              <a:rPr lang="en-US" altLang="zh-CN"/>
              <a:t> 7bit |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某计算机有四级中断，其中断响应及处理优先级从高到低依次为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、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。假定在运行用户主程序过程中，出现</a:t>
            </a:r>
            <a:r>
              <a:rPr lang="en-US" altLang="zh-CN"/>
              <a:t>3</a:t>
            </a:r>
            <a:r>
              <a:rPr lang="zh-CN" altLang="en-US"/>
              <a:t>级中断请求。在处理</a:t>
            </a:r>
            <a:r>
              <a:rPr lang="en-US" altLang="zh-CN"/>
              <a:t>3</a:t>
            </a:r>
            <a:r>
              <a:rPr lang="zh-CN" altLang="en-US"/>
              <a:t>级中断过程中，又</a:t>
            </a:r>
            <a:endParaRPr lang="zh-CN" altLang="en-US"/>
          </a:p>
          <a:p>
            <a:r>
              <a:rPr lang="zh-CN" altLang="en-US"/>
              <a:t>同时出现</a:t>
            </a:r>
            <a:r>
              <a:rPr lang="en-US" altLang="zh-CN"/>
              <a:t>2</a:t>
            </a:r>
            <a:r>
              <a:rPr lang="zh-CN" altLang="en-US"/>
              <a:t>级、</a:t>
            </a:r>
            <a:r>
              <a:rPr lang="en-US" altLang="zh-CN"/>
              <a:t>4</a:t>
            </a:r>
            <a:r>
              <a:rPr lang="zh-CN" altLang="en-US"/>
              <a:t>级中断请求，在处理</a:t>
            </a:r>
            <a:r>
              <a:rPr lang="en-US" altLang="zh-CN"/>
              <a:t>4</a:t>
            </a:r>
            <a:r>
              <a:rPr lang="zh-CN" altLang="en-US"/>
              <a:t>级中断请求过程出现</a:t>
            </a:r>
            <a:r>
              <a:rPr lang="en-US" altLang="zh-CN"/>
              <a:t>1</a:t>
            </a:r>
            <a:r>
              <a:rPr lang="zh-CN" altLang="en-US"/>
              <a:t>级中断请求。试问各级</a:t>
            </a:r>
            <a:endParaRPr lang="zh-CN" altLang="en-US"/>
          </a:p>
          <a:p>
            <a:r>
              <a:rPr lang="zh-CN" altLang="en-US"/>
              <a:t>中断处理完成的顺序，并画出处理该多重中断的示意图。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主</a:t>
            </a:r>
            <a:r>
              <a:rPr lang="en-US" altLang="zh-CN"/>
              <a:t>—3—2—3—</a:t>
            </a:r>
            <a:r>
              <a:rPr lang="zh-CN" altLang="en-US"/>
              <a:t>主</a:t>
            </a:r>
            <a:r>
              <a:rPr lang="en-US" altLang="zh-CN"/>
              <a:t>—4—1—4—</a:t>
            </a:r>
            <a:r>
              <a:rPr lang="zh-CN" altLang="en-US"/>
              <a:t>主，图略</a:t>
            </a:r>
            <a:r>
              <a:rPr lang="en-US" altLang="zh-CN"/>
              <a:t>    .............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现有</a:t>
            </a:r>
            <a:r>
              <a:rPr lang="en-US" altLang="zh-CN"/>
              <a:t> 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D </a:t>
            </a:r>
            <a:r>
              <a:rPr lang="zh-CN" altLang="en-US"/>
              <a:t>四个中断源，其优先级从高到低按</a:t>
            </a:r>
            <a:r>
              <a:rPr lang="en-US" altLang="zh-CN"/>
              <a:t> 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、</a:t>
            </a:r>
            <a:r>
              <a:rPr lang="en-US" altLang="zh-CN"/>
              <a:t>D </a:t>
            </a:r>
            <a:r>
              <a:rPr lang="zh-CN" altLang="en-US"/>
              <a:t>顺序排列，</a:t>
            </a:r>
            <a:endParaRPr lang="zh-CN" altLang="en-US"/>
          </a:p>
          <a:p>
            <a:r>
              <a:rPr lang="zh-CN" altLang="en-US"/>
              <a:t>假定在运行用户主程序过程中，同时出现</a:t>
            </a:r>
            <a:r>
              <a:rPr lang="en-US" altLang="zh-CN"/>
              <a:t> B </a:t>
            </a:r>
            <a:r>
              <a:rPr lang="zh-CN" altLang="en-US"/>
              <a:t>和</a:t>
            </a:r>
            <a:r>
              <a:rPr lang="en-US" altLang="zh-CN"/>
              <a:t> D </a:t>
            </a:r>
            <a:r>
              <a:rPr lang="zh-CN" altLang="en-US"/>
              <a:t>中断请求，在处理完这两次中断后，又</a:t>
            </a:r>
            <a:endParaRPr lang="zh-CN" altLang="en-US"/>
          </a:p>
          <a:p>
            <a:r>
              <a:rPr lang="zh-CN" altLang="en-US"/>
              <a:t>出现</a:t>
            </a:r>
            <a:r>
              <a:rPr lang="en-US" altLang="zh-CN"/>
              <a:t> C </a:t>
            </a:r>
            <a:r>
              <a:rPr lang="zh-CN" altLang="en-US"/>
              <a:t>中断请求，这次在处理</a:t>
            </a:r>
            <a:r>
              <a:rPr lang="en-US" altLang="zh-CN"/>
              <a:t> C </a:t>
            </a:r>
            <a:r>
              <a:rPr lang="zh-CN" altLang="en-US"/>
              <a:t>中断过程中出现</a:t>
            </a:r>
            <a:r>
              <a:rPr lang="en-US" altLang="zh-CN"/>
              <a:t> A </a:t>
            </a:r>
            <a:r>
              <a:rPr lang="zh-CN" altLang="en-US"/>
              <a:t>中断请求。试问各级中断处理完成</a:t>
            </a:r>
            <a:endParaRPr lang="zh-CN" altLang="en-US"/>
          </a:p>
          <a:p>
            <a:r>
              <a:rPr lang="zh-CN" altLang="en-US"/>
              <a:t>的顺序，并画出处理该多重中断的示意图。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主</a:t>
            </a:r>
            <a:r>
              <a:rPr lang="en-US" altLang="zh-CN">
                <a:sym typeface="+mn-ea"/>
              </a:rPr>
              <a:t>—B—</a:t>
            </a:r>
            <a:r>
              <a:rPr lang="zh-CN" altLang="en-US">
                <a:sym typeface="+mn-ea"/>
              </a:rPr>
              <a:t>主</a:t>
            </a:r>
            <a:r>
              <a:rPr lang="en-US" altLang="zh-CN">
                <a:sym typeface="+mn-ea"/>
              </a:rPr>
              <a:t>—D—</a:t>
            </a:r>
            <a:r>
              <a:rPr lang="zh-CN" altLang="en-US">
                <a:sym typeface="+mn-ea"/>
              </a:rPr>
              <a:t>主</a:t>
            </a:r>
            <a:r>
              <a:rPr lang="en-US" altLang="zh-CN">
                <a:sym typeface="+mn-ea"/>
              </a:rPr>
              <a:t>—C—A—C—</a:t>
            </a:r>
            <a:r>
              <a:rPr lang="zh-CN" altLang="en-US">
                <a:sym typeface="+mn-ea"/>
              </a:rPr>
              <a:t>主，图略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3546</Words>
  <Application>WPS 演示</Application>
  <PresentationFormat>宽屏</PresentationFormat>
  <Paragraphs>190</Paragraphs>
  <Slides>50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50</vt:i4>
      </vt:variant>
    </vt:vector>
  </HeadingPairs>
  <TitlesOfParts>
    <vt:vector size="7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WPS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复习习题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万鸣华</cp:lastModifiedBy>
  <cp:revision>170</cp:revision>
  <dcterms:created xsi:type="dcterms:W3CDTF">2019-06-19T02:08:00Z</dcterms:created>
  <dcterms:modified xsi:type="dcterms:W3CDTF">2026-01-04T11:58:36Z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EE9093D16B874C7AB6F53C973E0735BE_11</vt:lpwstr>
  </property>
</Properties>
</file>